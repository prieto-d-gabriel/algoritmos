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8" r:id="rId3"/>
    <p:sldId id="272" r:id="rId4"/>
    <p:sldId id="257" r:id="rId5"/>
    <p:sldId id="463" r:id="rId6"/>
    <p:sldId id="448" r:id="rId7"/>
    <p:sldId id="276" r:id="rId8"/>
    <p:sldId id="280" r:id="rId9"/>
    <p:sldId id="260" r:id="rId10"/>
    <p:sldId id="464" r:id="rId11"/>
    <p:sldId id="323" r:id="rId12"/>
    <p:sldId id="320" r:id="rId13"/>
    <p:sldId id="460" r:id="rId14"/>
    <p:sldId id="317" r:id="rId15"/>
    <p:sldId id="457" r:id="rId16"/>
    <p:sldId id="263" r:id="rId17"/>
    <p:sldId id="458" r:id="rId18"/>
    <p:sldId id="449" r:id="rId19"/>
    <p:sldId id="450" r:id="rId20"/>
    <p:sldId id="451" r:id="rId21"/>
    <p:sldId id="311" r:id="rId22"/>
    <p:sldId id="313" r:id="rId23"/>
    <p:sldId id="455" r:id="rId24"/>
    <p:sldId id="312" r:id="rId25"/>
    <p:sldId id="422" r:id="rId26"/>
    <p:sldId id="271" r:id="rId27"/>
    <p:sldId id="444" r:id="rId28"/>
    <p:sldId id="461" r:id="rId29"/>
    <p:sldId id="462" r:id="rId30"/>
    <p:sldId id="424" r:id="rId31"/>
    <p:sldId id="423" r:id="rId3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7BC4"/>
    <a:srgbClr val="01395E"/>
    <a:srgbClr val="00974A"/>
    <a:srgbClr val="2F6E0C"/>
    <a:srgbClr val="41002C"/>
    <a:srgbClr val="013A5F"/>
    <a:srgbClr val="5DDA18"/>
    <a:srgbClr val="215272"/>
    <a:srgbClr val="FCFDFD"/>
    <a:srgbClr val="013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4E541A7-286A-4F17-B295-124459FBF9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F07176F-DC91-477A-BE5C-84DDFDCFB2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E0A01-8C2A-493E-8D30-18DB6034BDB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4038095-83A0-4194-8F49-5D5A38B2B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1612D-1928-4231-B052-BF37C33389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5F4E9-8D23-4B07-9DAB-83651F2645F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3678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6419E-C0D3-4283-A646-A8A37D95C84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A376E-74DC-4F81-AEEC-38E94802ABFC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095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8AF6B-F257-4E0C-82B8-EF8D1F565E36}" type="slidenum">
              <a:rPr lang="es-PE" smtClean="0"/>
              <a:pPr/>
              <a:t>27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33472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C64AC-EDF3-4070-9848-A92DF0B80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3FA4D1-5437-44E6-B276-A8569191C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8287AC-3740-4092-B216-BFB1F373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F92F7-C627-4B84-AD7F-CF70F73D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9EE485-A8D6-4E95-8152-DADFB2CD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FC2804F-85C9-8758-2B29-BC67F8D50BB5}"/>
              </a:ext>
            </a:extLst>
          </p:cNvPr>
          <p:cNvSpPr/>
          <p:nvPr userDrawn="1"/>
        </p:nvSpPr>
        <p:spPr>
          <a:xfrm>
            <a:off x="0" y="0"/>
            <a:ext cx="704675" cy="604007"/>
          </a:xfrm>
          <a:prstGeom prst="rect">
            <a:avLst/>
          </a:prstGeom>
          <a:solidFill>
            <a:srgbClr val="1E7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9EB3F5C-519F-57D1-E96F-979127745892}"/>
              </a:ext>
            </a:extLst>
          </p:cNvPr>
          <p:cNvSpPr/>
          <p:nvPr userDrawn="1"/>
        </p:nvSpPr>
        <p:spPr>
          <a:xfrm>
            <a:off x="11487325" y="6253993"/>
            <a:ext cx="704675" cy="604007"/>
          </a:xfrm>
          <a:prstGeom prst="rect">
            <a:avLst/>
          </a:prstGeom>
          <a:solidFill>
            <a:srgbClr val="1E7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350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53316-BC36-402C-A672-B183E0920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1E7BC4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F22D8-B354-4125-BA5C-285C629CA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B4CC63-73F2-472B-A07A-6C2EF171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002802-C5F8-4734-8833-34BF031E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10B5D9-1564-4A98-AFC8-91F16C2E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940946B-58DF-D06F-2F32-BDF5D88007DF}"/>
              </a:ext>
            </a:extLst>
          </p:cNvPr>
          <p:cNvSpPr/>
          <p:nvPr userDrawn="1"/>
        </p:nvSpPr>
        <p:spPr>
          <a:xfrm>
            <a:off x="0" y="0"/>
            <a:ext cx="704675" cy="604007"/>
          </a:xfrm>
          <a:prstGeom prst="rect">
            <a:avLst/>
          </a:prstGeom>
          <a:solidFill>
            <a:srgbClr val="1E7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503EB8F-F57C-2D86-2B73-57172A2C74AD}"/>
              </a:ext>
            </a:extLst>
          </p:cNvPr>
          <p:cNvSpPr/>
          <p:nvPr userDrawn="1"/>
        </p:nvSpPr>
        <p:spPr>
          <a:xfrm>
            <a:off x="11492917" y="6259790"/>
            <a:ext cx="704675" cy="604007"/>
          </a:xfrm>
          <a:prstGeom prst="rect">
            <a:avLst/>
          </a:prstGeom>
          <a:solidFill>
            <a:srgbClr val="1E7B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186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DD092-390A-4014-AC52-192C1754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497282-A922-440B-95FA-B72AE3653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2AA504-5C71-4D0A-B676-A5DEA297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C3849-D1DE-468A-ACC0-1930E568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3C20CE-ACC7-4E4B-9C6C-384E7B13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4496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AF1D1-6328-4E4A-9CBB-770E7BCF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3FE5DD-F7B4-4F7C-985D-FE36CBB15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3A2A31-1345-440E-AB88-157C9A494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659F2-BB4C-41B4-88A7-9F1E148A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D6BC29-2BE3-4449-BC81-2489E4C3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1B44FB-B619-43A1-8E51-43917BD0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116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411AF-EC44-4297-9662-09F72B77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5B6D38-BD39-407E-B21E-6EBB78C8B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FCCDED-2F6C-43A8-ABB7-FBE262859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1C2C0C-8C7F-4886-8C7A-641686109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D010FA5-27C4-4DCC-AC55-0BC4BF6E8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9D4195-5E48-48CD-929E-EED1BD90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5F19E1-B6E9-47A6-95E4-EBECD1C4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53A38A-C924-4B34-BB52-DFDF737B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216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BF927-4742-448F-AB48-40D037B81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0FB229-927A-40DF-9ABA-0CA7EFEF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9C5C8B-A2C0-4C95-82A4-83D6CA860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16ABC3-0638-483B-9626-814251F7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603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2680E2-865E-47C8-8B54-D0DDCC94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36E3ED-E3AB-4AC6-A97B-9C95035C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B56030-7156-43FE-9C15-08CAFBC6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924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81A23-4B0F-485B-A10E-4634F1DD1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CDC768-1D79-49B1-AE99-0C570D75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B4D958-166D-4FE3-B05F-B63CC49FE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D583E0-A249-4C1B-AEC0-AE0E184B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52200B-E481-4726-91B1-757CA3C7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51E2DF-A23F-4FC3-940C-A045B7B3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379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C8DE1-D991-4134-AD4F-A9F41644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7C3421-BDC8-41D2-975F-C0A184C40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7888E9-FC74-4123-B360-E9775F3C9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FC9284-201D-4C97-83E0-7503D2FF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2B6008-F547-40A9-AAF7-A69DD755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4C759B-BA82-4B27-BB3C-11112FF9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861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C669F-CAF8-4A2E-A6AB-922E05A4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AF371C-097F-4D5F-98DE-9D40A6E0B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6E2190-84E6-4942-8E2C-641E684D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74DAE4-9E26-49AC-9E46-BD3CC2C4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1ADD50-1C83-42AD-A6EF-BDA39E13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697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9DB233-3D08-4F5C-B437-B0DC386E8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BB01BA-FF60-409F-AA45-C21E4BBF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C1C391-12B2-4B2C-BEF3-6E93F15EA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9F1765-8149-4DC3-A5ED-C855DD6F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E7B97D-2A1F-49E5-88B8-08460741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492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01C89F-1B46-4262-972B-91A02A54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4AB259-3370-452E-B117-38B24DA45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A9403C-248C-40B8-905F-5B3257B2B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3B48-4490-4C9D-89DC-314F6D30449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4C02F9-A05E-4D74-9D35-D205461C5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077215-0C34-4E06-BE16-D2230FDD4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24E0F-8C2F-4CAF-B5E0-E08F9DAE52A5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5266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7941A-6A37-4B6F-A35F-1EB878481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778" y="968376"/>
            <a:ext cx="9910440" cy="2839114"/>
          </a:xfrm>
        </p:spPr>
        <p:txBody>
          <a:bodyPr>
            <a:normAutofit/>
          </a:bodyPr>
          <a:lstStyle/>
          <a:p>
            <a:r>
              <a:rPr lang="es-MX" sz="8000" b="1" dirty="0">
                <a:solidFill>
                  <a:srgbClr val="1E7BC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s-PE" sz="8000" b="1">
                <a:solidFill>
                  <a:srgbClr val="1E7BC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LGORITMOS Y PROGRAMACION</a:t>
            </a:r>
            <a:endParaRPr lang="es-PE" sz="8000" b="1" dirty="0">
              <a:solidFill>
                <a:srgbClr val="1E7BC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FF3EC3-0FB4-15F9-99AB-A44372C2AB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9046"/>
          <a:stretch/>
        </p:blipFill>
        <p:spPr>
          <a:xfrm>
            <a:off x="5889255" y="5285693"/>
            <a:ext cx="413490" cy="30126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9F0BAD1-D56E-0556-CB25-9E0335814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407" y="4145399"/>
            <a:ext cx="2367181" cy="115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045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D97CF-5281-4601-8769-2BBB3982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6000" b="1" dirty="0">
                <a:latin typeface="Roboto" panose="02000000000000000000" pitchFamily="2" charset="0"/>
                <a:ea typeface="Roboto" panose="02000000000000000000" pitchFamily="2" charset="0"/>
              </a:rPr>
              <a:t>¿Qué es Programar?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179962-4EAE-4AA0-B828-57174E72E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861916" cy="4351338"/>
          </a:xfrm>
        </p:spPr>
        <p:txBody>
          <a:bodyPr>
            <a:normAutofit/>
          </a:bodyPr>
          <a:lstStyle/>
          <a:p>
            <a:r>
              <a:rPr lang="es-MX" sz="4800" dirty="0"/>
              <a:t>Es el proceso    utilizado para idear y ordenar las acciones necesarias para realizar un proyecto.	</a:t>
            </a:r>
            <a:endParaRPr lang="es-PE" sz="4800" dirty="0"/>
          </a:p>
        </p:txBody>
      </p:sp>
      <p:pic>
        <p:nvPicPr>
          <p:cNvPr id="3078" name="Picture 6" descr="Resultado de imagen para taza de cafe png">
            <a:extLst>
              <a:ext uri="{FF2B5EF4-FFF2-40B4-BE49-F238E27FC236}">
                <a16:creationId xmlns:a16="http://schemas.microsoft.com/office/drawing/2014/main" id="{EB82B3CF-E067-42EB-A26C-D535A8665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473" y="3429000"/>
            <a:ext cx="2471832" cy="247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96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366" y="1786483"/>
            <a:ext cx="9705265" cy="2654888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Es la parte lógica del ordenador.</a:t>
            </a:r>
          </a:p>
          <a:p>
            <a:pPr algn="just"/>
            <a:r>
              <a:rPr lang="es-MX" dirty="0">
                <a:solidFill>
                  <a:schemeClr val="tx1"/>
                </a:solidFill>
              </a:rPr>
              <a:t>Instrucciones (programas de cómputo) que cuando se ejecutan proporcionan las características, función, desempeño buscado.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  <a:p>
            <a:pPr algn="just"/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9A7148-35D4-4E73-BE72-DB0A6BBC7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890" y="3887424"/>
            <a:ext cx="2065483" cy="183580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8D8DD6B-E62F-44E7-A3EB-204B69DC75C1}"/>
              </a:ext>
            </a:extLst>
          </p:cNvPr>
          <p:cNvSpPr txBox="1"/>
          <p:nvPr/>
        </p:nvSpPr>
        <p:spPr>
          <a:xfrm>
            <a:off x="1243365" y="4441371"/>
            <a:ext cx="6481267" cy="70788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MX" sz="2000" dirty="0">
                <a:solidFill>
                  <a:srgbClr val="5DDA1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“El Software se desarrolla o modifica con intelecto; no se manufactura con el sentido clásico”	</a:t>
            </a:r>
          </a:p>
        </p:txBody>
      </p:sp>
    </p:spTree>
    <p:extLst>
      <p:ext uri="{BB962C8B-B14F-4D97-AF65-F5344CB8AC3E}">
        <p14:creationId xmlns:p14="http://schemas.microsoft.com/office/powerpoint/2010/main" val="106766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DATO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717" y="1786483"/>
            <a:ext cx="9438565" cy="1325563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>
                <a:solidFill>
                  <a:schemeClr val="tx1"/>
                </a:solidFill>
              </a:rPr>
              <a:t>Información concreta sobre hechos, elementos, que permite estudiarlos, analizarlos o conocerlos.</a:t>
            </a:r>
          </a:p>
          <a:p>
            <a:pPr algn="just"/>
            <a:r>
              <a:rPr lang="es-PE" dirty="0">
                <a:solidFill>
                  <a:schemeClr val="tx1"/>
                </a:solidFill>
              </a:rPr>
              <a:t>Unidad mínima de información.</a:t>
            </a:r>
          </a:p>
          <a:p>
            <a:pPr algn="just"/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1026" name="Picture 2" descr="Dato en Informática - Concepto, tipos y ejemplos">
            <a:extLst>
              <a:ext uri="{FF2B5EF4-FFF2-40B4-BE49-F238E27FC236}">
                <a16:creationId xmlns:a16="http://schemas.microsoft.com/office/drawing/2014/main" id="{F86B5BBD-CAEB-44EE-92B7-D6CAD3DE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371" y="3429000"/>
            <a:ext cx="3793256" cy="21372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2769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11A33-B829-4CF9-BA6A-19A6CC68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5FA4C4-5D10-45CF-9FA4-52A4F5BC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La información es una recopilación o conjunto de datos y conocimientos organizados.</a:t>
            </a:r>
          </a:p>
        </p:txBody>
      </p:sp>
      <p:pic>
        <p:nvPicPr>
          <p:cNvPr id="2050" name="Picture 2" descr="Qué es Información? » Su Definición y Significado [2020]">
            <a:extLst>
              <a:ext uri="{FF2B5EF4-FFF2-40B4-BE49-F238E27FC236}">
                <a16:creationId xmlns:a16="http://schemas.microsoft.com/office/drawing/2014/main" id="{018BA9F8-027A-48AC-B2A9-4C71872A5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297" y="3429000"/>
            <a:ext cx="5221406" cy="2668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140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LENGUAJES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366" y="1786483"/>
            <a:ext cx="9705265" cy="2654888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Comprendido por seres Humanos.</a:t>
            </a:r>
            <a:endParaRPr lang="es-MX" dirty="0">
              <a:solidFill>
                <a:schemeClr val="tx1"/>
              </a:solidFill>
            </a:endParaRPr>
          </a:p>
          <a:p>
            <a:pPr algn="just"/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Picture 2" descr="Resultado de imagen para javascript png">
            <a:extLst>
              <a:ext uri="{FF2B5EF4-FFF2-40B4-BE49-F238E27FC236}">
                <a16:creationId xmlns:a16="http://schemas.microsoft.com/office/drawing/2014/main" id="{BFD4A7C7-2F4A-445B-9850-EE32935B1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540" y="2556523"/>
            <a:ext cx="1928605" cy="192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java png">
            <a:extLst>
              <a:ext uri="{FF2B5EF4-FFF2-40B4-BE49-F238E27FC236}">
                <a16:creationId xmlns:a16="http://schemas.microsoft.com/office/drawing/2014/main" id="{792AEAEA-F85D-44FF-B4FE-E097D4503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998" y="2360416"/>
            <a:ext cx="2410798" cy="21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python png">
            <a:extLst>
              <a:ext uri="{FF2B5EF4-FFF2-40B4-BE49-F238E27FC236}">
                <a16:creationId xmlns:a16="http://schemas.microsoft.com/office/drawing/2014/main" id="{87F6E520-8C8E-4323-9566-85AD15F91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3" r="22884"/>
          <a:stretch/>
        </p:blipFill>
        <p:spPr bwMode="auto">
          <a:xfrm>
            <a:off x="1456044" y="2445707"/>
            <a:ext cx="2121277" cy="198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Resultado de imagen para visual basic png">
            <a:extLst>
              <a:ext uri="{FF2B5EF4-FFF2-40B4-BE49-F238E27FC236}">
                <a16:creationId xmlns:a16="http://schemas.microsoft.com/office/drawing/2014/main" id="{1CB092E2-0B91-4A2B-861D-2DEF42D29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540" y="4741035"/>
            <a:ext cx="1636113" cy="163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Resultado de imagen para c# png">
            <a:extLst>
              <a:ext uri="{FF2B5EF4-FFF2-40B4-BE49-F238E27FC236}">
                <a16:creationId xmlns:a16="http://schemas.microsoft.com/office/drawing/2014/main" id="{6B85A58B-9217-4E44-8498-C98527ABF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533" y="4172348"/>
            <a:ext cx="2672238" cy="267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HP 8 ya está disponible – Códigos de Programación">
            <a:extLst>
              <a:ext uri="{FF2B5EF4-FFF2-40B4-BE49-F238E27FC236}">
                <a16:creationId xmlns:a16="http://schemas.microsoft.com/office/drawing/2014/main" id="{97886F8B-9690-4E7E-8557-222C5FDEA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44" y="4435534"/>
            <a:ext cx="3204754" cy="194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2B66E4-AEA5-45AF-B1F0-A3A363254D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050" y="2676614"/>
            <a:ext cx="2874406" cy="150477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31E5F3-0F8F-4BD9-85AD-D307327E0C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180" y="4435534"/>
            <a:ext cx="2233274" cy="223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4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016F2-24D8-4897-8A14-F9DAE5BB7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670" y="362915"/>
            <a:ext cx="10515600" cy="1325563"/>
          </a:xfrm>
        </p:spPr>
        <p:txBody>
          <a:bodyPr/>
          <a:lstStyle/>
          <a:p>
            <a:r>
              <a:rPr lang="es-PE" b="1" dirty="0"/>
              <a:t>ARRAY UNIDIMENCIONAL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0061A4-A2A8-4624-B0CB-61D965881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Se le denomina también </a:t>
            </a:r>
            <a:r>
              <a:rPr lang="es-PE" b="1" dirty="0"/>
              <a:t>VECTOR</a:t>
            </a:r>
            <a:r>
              <a:rPr lang="es-PE" dirty="0"/>
              <a:t> o formación a un conjunto de elementos del mismo tipo.</a:t>
            </a:r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0C26C031-C181-49B1-8B74-AD5E321BBEE5}"/>
              </a:ext>
            </a:extLst>
          </p:cNvPr>
          <p:cNvGraphicFramePr>
            <a:graphicFrameLocks noGrp="1"/>
          </p:cNvGraphicFramePr>
          <p:nvPr/>
        </p:nvGraphicFramePr>
        <p:xfrm>
          <a:off x="1874276" y="3425483"/>
          <a:ext cx="8443447" cy="191672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30384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  <a:gridCol w="1759086">
                  <a:extLst>
                    <a:ext uri="{9D8B030D-6E8A-4147-A177-3AD203B41FA5}">
                      <a16:colId xmlns:a16="http://schemas.microsoft.com/office/drawing/2014/main" val="1827701518"/>
                    </a:ext>
                  </a:extLst>
                </a:gridCol>
                <a:gridCol w="1360943">
                  <a:extLst>
                    <a:ext uri="{9D8B030D-6E8A-4147-A177-3AD203B41FA5}">
                      <a16:colId xmlns:a16="http://schemas.microsoft.com/office/drawing/2014/main" val="1265292858"/>
                    </a:ext>
                  </a:extLst>
                </a:gridCol>
                <a:gridCol w="1209822">
                  <a:extLst>
                    <a:ext uri="{9D8B030D-6E8A-4147-A177-3AD203B41FA5}">
                      <a16:colId xmlns:a16="http://schemas.microsoft.com/office/drawing/2014/main" val="2789329972"/>
                    </a:ext>
                  </a:extLst>
                </a:gridCol>
                <a:gridCol w="1483212">
                  <a:extLst>
                    <a:ext uri="{9D8B030D-6E8A-4147-A177-3AD203B41FA5}">
                      <a16:colId xmlns:a16="http://schemas.microsoft.com/office/drawing/2014/main" val="2852599783"/>
                    </a:ext>
                  </a:extLst>
                </a:gridCol>
              </a:tblGrid>
              <a:tr h="841994">
                <a:tc rowSpan="2"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ARRAY “NUMEROS”</a:t>
                      </a:r>
                    </a:p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NUMÉRICOS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VALORES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1074728">
                <a:tc vMerge="1"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NUMÉRICOS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tx1"/>
                          </a:solidFill>
                        </a:rPr>
                        <a:t>INDICES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92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016F2-24D8-4897-8A14-F9DAE5BB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ARRAY BIDIMENSIONAL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0061A4-A2A8-4624-B0CB-61D965881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Es un Array compuesto de otros Array, por ejemplo; Nombre completo es un array bidimensional porque tiene como valores a Nombres(primer y segundo nombre) y Apellidos(Paterno y Materno).</a:t>
            </a:r>
          </a:p>
          <a:p>
            <a:pPr algn="just"/>
            <a:endParaRPr lang="es-PE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8FA4448-92DB-44C4-8812-455987A69A97}"/>
              </a:ext>
            </a:extLst>
          </p:cNvPr>
          <p:cNvGraphicFramePr>
            <a:graphicFrameLocks noGrp="1"/>
          </p:cNvGraphicFramePr>
          <p:nvPr/>
        </p:nvGraphicFramePr>
        <p:xfrm>
          <a:off x="2565073" y="3429000"/>
          <a:ext cx="7061853" cy="18714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9988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  <a:gridCol w="1570282">
                  <a:extLst>
                    <a:ext uri="{9D8B030D-6E8A-4147-A177-3AD203B41FA5}">
                      <a16:colId xmlns:a16="http://schemas.microsoft.com/office/drawing/2014/main" val="368015822"/>
                    </a:ext>
                  </a:extLst>
                </a:gridCol>
                <a:gridCol w="2160263">
                  <a:extLst>
                    <a:ext uri="{9D8B030D-6E8A-4147-A177-3AD203B41FA5}">
                      <a16:colId xmlns:a16="http://schemas.microsoft.com/office/drawing/2014/main" val="1827701518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1265292858"/>
                    </a:ext>
                  </a:extLst>
                </a:gridCol>
              </a:tblGrid>
              <a:tr h="841994">
                <a:tc rowSpan="3"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ARRAY “NOMBRE COMPLETO”</a:t>
                      </a:r>
                    </a:p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NUMÉRICOS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ARRAY “NOMBRES”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ALBERTO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JOSE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NUMÉRICOS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tx1"/>
                          </a:solidFill>
                        </a:rPr>
                        <a:t>TORRES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tx1"/>
                          </a:solidFill>
                        </a:rPr>
                        <a:t>VALENCIA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958361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solidFill>
                            <a:schemeClr val="bg1"/>
                          </a:solidFill>
                        </a:rPr>
                        <a:t>ARRAY “APELLIDOS”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173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08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016F2-24D8-4897-8A14-F9DAE5BB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TABLA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0061A4-A2A8-4624-B0CB-61D965881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una herramienta que permite estructurar u ordenar datos en filas y columnas.</a:t>
            </a:r>
          </a:p>
          <a:p>
            <a:endParaRPr lang="es-PE" dirty="0"/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371D2B75-E078-4B2D-9E1E-EAD9FA0E5F3D}"/>
              </a:ext>
            </a:extLst>
          </p:cNvPr>
          <p:cNvGraphicFramePr>
            <a:graphicFrameLocks noGrp="1"/>
          </p:cNvGraphicFramePr>
          <p:nvPr/>
        </p:nvGraphicFramePr>
        <p:xfrm>
          <a:off x="2260788" y="3033137"/>
          <a:ext cx="7670423" cy="22092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90126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  <a:gridCol w="2156347">
                  <a:extLst>
                    <a:ext uri="{9D8B030D-6E8A-4147-A177-3AD203B41FA5}">
                      <a16:colId xmlns:a16="http://schemas.microsoft.com/office/drawing/2014/main" val="1827701518"/>
                    </a:ext>
                  </a:extLst>
                </a:gridCol>
                <a:gridCol w="1555845">
                  <a:extLst>
                    <a:ext uri="{9D8B030D-6E8A-4147-A177-3AD203B41FA5}">
                      <a16:colId xmlns:a16="http://schemas.microsoft.com/office/drawing/2014/main" val="1828604085"/>
                    </a:ext>
                  </a:extLst>
                </a:gridCol>
                <a:gridCol w="1268105">
                  <a:extLst>
                    <a:ext uri="{9D8B030D-6E8A-4147-A177-3AD203B41FA5}">
                      <a16:colId xmlns:a16="http://schemas.microsoft.com/office/drawing/2014/main" val="1019937771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bg1"/>
                          </a:solidFill>
                        </a:rPr>
                        <a:t>No. Empleado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bg1"/>
                          </a:solidFill>
                        </a:rPr>
                        <a:t>Departamento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bg1"/>
                          </a:solidFill>
                        </a:rPr>
                        <a:t>Nombre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bg1"/>
                          </a:solidFill>
                        </a:rPr>
                        <a:t>Apellido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4000307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Recursos Humanos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Andrea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Mendoza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4000308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Finanzas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Juan Carlos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Hernández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3676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4000309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Informática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Arturo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Becerril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30087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40003010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Marketing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Claudia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Camacho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929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476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CFBD0-4359-42FE-9DE8-04111FF0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TIPOS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9DFC8-5DAE-4E70-ABDF-A147F1388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Un tipo de dato informático o simplemente tipo, es un atributo de los datos que indica al ordenador sobre la clase de datos que se va a manejar.</a:t>
            </a:r>
          </a:p>
          <a:p>
            <a:endParaRPr lang="es-PE" dirty="0"/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1122A1C7-0034-4E01-B775-E8503A7B7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37724"/>
              </p:ext>
            </p:extLst>
          </p:nvPr>
        </p:nvGraphicFramePr>
        <p:xfrm>
          <a:off x="3884304" y="3429000"/>
          <a:ext cx="4423392" cy="22092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11696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  <a:gridCol w="2211696">
                  <a:extLst>
                    <a:ext uri="{9D8B030D-6E8A-4147-A177-3AD203B41FA5}">
                      <a16:colId xmlns:a16="http://schemas.microsoft.com/office/drawing/2014/main" val="1827701518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TIPOS DE DATOS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EJEMPLO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NUMÉRICOS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CADENA DE TEXTO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ATEMATICA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3676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LÓGICOS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FALSO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87666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DATETIME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01/01/2012 08:30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3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29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CFBD0-4359-42FE-9DE8-04111FF0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TIPOS DE DATOS </a:t>
            </a:r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1122A1C7-0034-4E01-B775-E8503A7B7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73210"/>
              </p:ext>
            </p:extLst>
          </p:nvPr>
        </p:nvGraphicFramePr>
        <p:xfrm>
          <a:off x="985872" y="2482989"/>
          <a:ext cx="3153631" cy="33180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53631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</a:tblGrid>
              <a:tr h="55300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C#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55300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55300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Double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36763"/>
                  </a:ext>
                </a:extLst>
              </a:tr>
              <a:tr h="55300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Object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87666"/>
                  </a:ext>
                </a:extLst>
              </a:tr>
              <a:tr h="55300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3699"/>
                  </a:ext>
                </a:extLst>
              </a:tr>
              <a:tr h="55300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decimal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37943"/>
                  </a:ext>
                </a:extLst>
              </a:tr>
            </a:tbl>
          </a:graphicData>
        </a:graphic>
      </p:graphicFrame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424AA57B-321A-4EB0-969F-74FE5944C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62912"/>
              </p:ext>
            </p:extLst>
          </p:nvPr>
        </p:nvGraphicFramePr>
        <p:xfrm>
          <a:off x="4519184" y="2482989"/>
          <a:ext cx="3153631" cy="333906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53631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</a:tblGrid>
              <a:tr h="375202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PHP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719548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739442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Double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36763"/>
                  </a:ext>
                </a:extLst>
              </a:tr>
              <a:tr h="751616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87666"/>
                  </a:ext>
                </a:extLst>
              </a:tr>
              <a:tr h="732222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369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C7C128A-2585-49E9-BF2C-17E979D2C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25437"/>
              </p:ext>
            </p:extLst>
          </p:nvPr>
        </p:nvGraphicFramePr>
        <p:xfrm>
          <a:off x="8052497" y="2482989"/>
          <a:ext cx="3153631" cy="333906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53631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</a:tblGrid>
              <a:tr h="455328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SQL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56799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Varchar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550882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Char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36763"/>
                  </a:ext>
                </a:extLst>
              </a:tr>
              <a:tr h="510076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87666"/>
                  </a:ext>
                </a:extLst>
              </a:tr>
              <a:tr h="642696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Blob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3699"/>
                  </a:ext>
                </a:extLst>
              </a:tr>
              <a:tr h="612092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 err="1">
                          <a:solidFill>
                            <a:schemeClr val="tx1"/>
                          </a:solidFill>
                        </a:rPr>
                        <a:t>Image</a:t>
                      </a:r>
                      <a:endParaRPr lang="es-PE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26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0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TIPOS DE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41" y="2231773"/>
            <a:ext cx="9438565" cy="2654888"/>
          </a:xfrm>
        </p:spPr>
        <p:txBody>
          <a:bodyPr>
            <a:normAutofit/>
          </a:bodyPr>
          <a:lstStyle/>
          <a:p>
            <a:pPr algn="just"/>
            <a:r>
              <a:rPr lang="es-PE" dirty="0">
                <a:solidFill>
                  <a:schemeClr val="tx1"/>
                </a:solidFill>
              </a:rPr>
              <a:t>OPERADORES ARITMÉTICOS</a:t>
            </a:r>
          </a:p>
          <a:p>
            <a:pPr algn="just"/>
            <a:r>
              <a:rPr lang="es-PE" dirty="0"/>
              <a:t>OPERADORES DE COMPARACIÓN</a:t>
            </a:r>
          </a:p>
          <a:p>
            <a:pPr algn="just"/>
            <a:r>
              <a:rPr lang="es-PE" dirty="0">
                <a:solidFill>
                  <a:schemeClr val="tx1"/>
                </a:solidFill>
              </a:rPr>
              <a:t>OPERADORES LÓGICOS</a:t>
            </a:r>
          </a:p>
          <a:p>
            <a:pPr algn="just"/>
            <a:r>
              <a:rPr lang="es-PE" dirty="0"/>
              <a:t>OPERADORES DE CONCATENACIÓN</a:t>
            </a:r>
          </a:p>
          <a:p>
            <a:pPr algn="just"/>
            <a:r>
              <a:rPr lang="es-PE" dirty="0">
                <a:solidFill>
                  <a:schemeClr val="tx1"/>
                </a:solidFill>
              </a:rPr>
              <a:t>OPERADORES DE REFERENCIA</a:t>
            </a:r>
          </a:p>
        </p:txBody>
      </p:sp>
    </p:spTree>
    <p:extLst>
      <p:ext uri="{BB962C8B-B14F-4D97-AF65-F5344CB8AC3E}">
        <p14:creationId xmlns:p14="http://schemas.microsoft.com/office/powerpoint/2010/main" val="316132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OPERADORES</a:t>
            </a:r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6F962266-9398-4AF0-A439-FD256C4B9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1935"/>
              </p:ext>
            </p:extLst>
          </p:nvPr>
        </p:nvGraphicFramePr>
        <p:xfrm>
          <a:off x="1087884" y="1930385"/>
          <a:ext cx="10016231" cy="446063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06381">
                  <a:extLst>
                    <a:ext uri="{9D8B030D-6E8A-4147-A177-3AD203B41FA5}">
                      <a16:colId xmlns:a16="http://schemas.microsoft.com/office/drawing/2014/main" val="2552558381"/>
                    </a:ext>
                  </a:extLst>
                </a:gridCol>
                <a:gridCol w="2125886">
                  <a:extLst>
                    <a:ext uri="{9D8B030D-6E8A-4147-A177-3AD203B41FA5}">
                      <a16:colId xmlns:a16="http://schemas.microsoft.com/office/drawing/2014/main" val="1827701518"/>
                    </a:ext>
                  </a:extLst>
                </a:gridCol>
                <a:gridCol w="1674636">
                  <a:extLst>
                    <a:ext uri="{9D8B030D-6E8A-4147-A177-3AD203B41FA5}">
                      <a16:colId xmlns:a16="http://schemas.microsoft.com/office/drawing/2014/main" val="1352113729"/>
                    </a:ext>
                  </a:extLst>
                </a:gridCol>
                <a:gridCol w="1782369">
                  <a:extLst>
                    <a:ext uri="{9D8B030D-6E8A-4147-A177-3AD203B41FA5}">
                      <a16:colId xmlns:a16="http://schemas.microsoft.com/office/drawing/2014/main" val="1749703635"/>
                    </a:ext>
                  </a:extLst>
                </a:gridCol>
                <a:gridCol w="1526959">
                  <a:extLst>
                    <a:ext uri="{9D8B030D-6E8A-4147-A177-3AD203B41FA5}">
                      <a16:colId xmlns:a16="http://schemas.microsoft.com/office/drawing/2014/main" val="3117121452"/>
                    </a:ext>
                  </a:extLst>
                </a:gridCol>
              </a:tblGrid>
              <a:tr h="567557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OPERADOR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VBA - VB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PHP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JAVASCRIPT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bg1"/>
                          </a:solidFill>
                        </a:rPr>
                        <a:t>C#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63278"/>
                  </a:ext>
                </a:extLst>
              </a:tr>
              <a:tr h="582549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OR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||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||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||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857260"/>
                  </a:ext>
                </a:extLst>
              </a:tr>
              <a:tr h="754663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AND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&amp;&amp;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&amp;&amp;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&amp;&amp;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36763"/>
                  </a:ext>
                </a:extLst>
              </a:tr>
              <a:tr h="763479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DIFERENTE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&lt;&gt;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3699"/>
                  </a:ext>
                </a:extLst>
              </a:tr>
              <a:tr h="816745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IGUAL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502660"/>
                  </a:ext>
                </a:extLst>
              </a:tr>
              <a:tr h="975644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Función RESIDUO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MOD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DD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23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74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12EC-97B4-4661-898C-DA89312A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DFF5F4-A539-4BE0-B08A-254035B00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Un objeto donde podemos guardar un dato.</a:t>
            </a:r>
            <a:endParaRPr lang="es-PE" dirty="0"/>
          </a:p>
        </p:txBody>
      </p:sp>
      <p:pic>
        <p:nvPicPr>
          <p:cNvPr id="7170" name="Picture 2" descr="Almacenando la información que necesitas - Variables - Aprende sobre  desarrollo web | MDN">
            <a:extLst>
              <a:ext uri="{FF2B5EF4-FFF2-40B4-BE49-F238E27FC236}">
                <a16:creationId xmlns:a16="http://schemas.microsoft.com/office/drawing/2014/main" id="{749B12FA-9C43-4579-9B76-2DCC593F2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566" y="2933628"/>
            <a:ext cx="8368868" cy="346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058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12EC-97B4-4661-898C-DA89312A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733"/>
            <a:ext cx="10515600" cy="4233508"/>
          </a:xfrm>
        </p:spPr>
        <p:txBody>
          <a:bodyPr>
            <a:normAutofit/>
          </a:bodyPr>
          <a:lstStyle/>
          <a:p>
            <a:pPr algn="ctr"/>
            <a:r>
              <a:rPr lang="es-PE" sz="9600" b="1" dirty="0"/>
              <a:t>HERRAMIENTAS</a:t>
            </a:r>
          </a:p>
        </p:txBody>
      </p:sp>
    </p:spTree>
    <p:extLst>
      <p:ext uri="{BB962C8B-B14F-4D97-AF65-F5344CB8AC3E}">
        <p14:creationId xmlns:p14="http://schemas.microsoft.com/office/powerpoint/2010/main" val="321041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1BA93-B4C8-4F2C-AF7B-6E9896E8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latin typeface="Roboto" panose="02000000000000000000" pitchFamily="2" charset="0"/>
                <a:ea typeface="Roboto" panose="02000000000000000000" pitchFamily="2" charset="0"/>
              </a:rPr>
              <a:t>Editor de Código</a:t>
            </a:r>
          </a:p>
        </p:txBody>
      </p:sp>
      <p:pic>
        <p:nvPicPr>
          <p:cNvPr id="1026" name="Picture 2" descr="Resultado de imagen para visual studio code png">
            <a:extLst>
              <a:ext uri="{FF2B5EF4-FFF2-40B4-BE49-F238E27FC236}">
                <a16:creationId xmlns:a16="http://schemas.microsoft.com/office/drawing/2014/main" id="{0EA265E6-A534-4838-8856-6EA99924E6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64" y="3429000"/>
            <a:ext cx="3166402" cy="168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sublime text png">
            <a:extLst>
              <a:ext uri="{FF2B5EF4-FFF2-40B4-BE49-F238E27FC236}">
                <a16:creationId xmlns:a16="http://schemas.microsoft.com/office/drawing/2014/main" id="{C90141C9-9EF0-44A4-B9D0-EE3CF45F4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582" y="3429000"/>
            <a:ext cx="1991751" cy="178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atom editor png">
            <a:extLst>
              <a:ext uri="{FF2B5EF4-FFF2-40B4-BE49-F238E27FC236}">
                <a16:creationId xmlns:a16="http://schemas.microsoft.com/office/drawing/2014/main" id="{BD39E50E-99BC-4179-B2F2-8936329DDA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9" t="14211" r="27855" b="12883"/>
          <a:stretch/>
        </p:blipFill>
        <p:spPr bwMode="auto">
          <a:xfrm>
            <a:off x="7861656" y="3461976"/>
            <a:ext cx="2278966" cy="192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62B34DAD-60D5-4B88-820F-39B4D1D9DA7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 un editor de texto diseñado específicamente para editar el código fuente de aplicaciones informáticas.</a:t>
            </a:r>
            <a:endParaRPr lang="es-P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060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1BA93-B4C8-4F2C-AF7B-6E9896E8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3200" b="1" dirty="0">
                <a:latin typeface="Roboto" panose="02000000000000000000" pitchFamily="2" charset="0"/>
                <a:ea typeface="Roboto" panose="02000000000000000000" pitchFamily="2" charset="0"/>
              </a:rPr>
              <a:t>IDE – Entorno de Desarrollo Integrado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62B34DAD-60D5-4B88-820F-39B4D1D9DA7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Es una aplicación informática que proporciona servicios integrales para facilitarle al desarrollador o programador el desarrollo de software.</a:t>
            </a:r>
            <a:endParaRPr lang="es-P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050" name="Picture 2" descr="Resultado de imagen para visual studio 2019 png">
            <a:extLst>
              <a:ext uri="{FF2B5EF4-FFF2-40B4-BE49-F238E27FC236}">
                <a16:creationId xmlns:a16="http://schemas.microsoft.com/office/drawing/2014/main" id="{3B4F89D2-CB60-49C3-B45C-143EBEC65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894" y="3639845"/>
            <a:ext cx="3670208" cy="210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ntelliJ IDEA 2019.2 Released with Java 13 (Preview) Support | Open Source  Society Malta">
            <a:extLst>
              <a:ext uri="{FF2B5EF4-FFF2-40B4-BE49-F238E27FC236}">
                <a16:creationId xmlns:a16="http://schemas.microsoft.com/office/drawing/2014/main" id="{31293BDC-8C82-49DF-A09F-0FC1D159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29" y="3428999"/>
            <a:ext cx="2821331" cy="287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067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6066"/>
            <a:ext cx="7847182" cy="5621934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PE" sz="1800" b="0" dirty="0" err="1">
                <a:solidFill>
                  <a:srgbClr val="CB6CFE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poo_csharp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Persona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{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idpersona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materno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getPaterno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s-PE" sz="1800" b="0" dirty="0" err="1">
                <a:solidFill>
                  <a:srgbClr val="CB6CF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PE" sz="18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800" b="0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setPaterno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s-PE" sz="1800" b="0" dirty="0" err="1">
                <a:solidFill>
                  <a:srgbClr val="CB6CF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PE" sz="18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800" b="0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18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800" b="0" dirty="0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s-PE" sz="18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just">
              <a:buNone/>
            </a:pPr>
            <a:endParaRPr lang="es-PE" sz="1800" dirty="0">
              <a:solidFill>
                <a:schemeClr val="tx1"/>
              </a:solidFill>
            </a:endParaRPr>
          </a:p>
        </p:txBody>
      </p:sp>
      <p:pic>
        <p:nvPicPr>
          <p:cNvPr id="8" name="Picture 18" descr="Resultado de imagen para c# png">
            <a:extLst>
              <a:ext uri="{FF2B5EF4-FFF2-40B4-BE49-F238E27FC236}">
                <a16:creationId xmlns:a16="http://schemas.microsoft.com/office/drawing/2014/main" id="{79C084C3-6856-4887-9122-7C5719D0C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031" y="2184910"/>
            <a:ext cx="3141035" cy="314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37E07AE-5FD9-45F1-8D99-BAB3890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b="1" dirty="0"/>
              <a:t>MÉTODOS</a:t>
            </a:r>
          </a:p>
        </p:txBody>
      </p:sp>
    </p:spTree>
    <p:extLst>
      <p:ext uri="{BB962C8B-B14F-4D97-AF65-F5344CB8AC3E}">
        <p14:creationId xmlns:p14="http://schemas.microsoft.com/office/powerpoint/2010/main" val="4253503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74" y="656948"/>
            <a:ext cx="7368466" cy="6201052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Persona {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2000" b="0" i="1" dirty="0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//atributos</a:t>
            </a:r>
            <a:endParaRPr lang="es-PE" sz="2000" b="0" dirty="0">
              <a:solidFill>
                <a:srgbClr val="CED5E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idpersona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materno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2000" b="0" i="1" dirty="0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s-PE" sz="2000" b="0" i="1" dirty="0" err="1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metodos</a:t>
            </a:r>
            <a:endParaRPr lang="es-PE" sz="2000" b="0" dirty="0">
              <a:solidFill>
                <a:srgbClr val="CED5E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getPaterno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PE" sz="2000" b="0" dirty="0" err="1">
                <a:solidFill>
                  <a:srgbClr val="CB6CF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97A7C8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PE" sz="20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2000" b="0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setPaterno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20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i="1" dirty="0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PE" sz="2000" b="0" dirty="0" err="1">
                <a:solidFill>
                  <a:srgbClr val="97A7C8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PE" sz="20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2000" b="0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paterno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20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paterno;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s-PE" sz="20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 algn="just">
              <a:buNone/>
            </a:pPr>
            <a:endParaRPr lang="es-PE" sz="3200" dirty="0">
              <a:solidFill>
                <a:schemeClr val="tx1"/>
              </a:solidFill>
            </a:endParaRPr>
          </a:p>
        </p:txBody>
      </p:sp>
      <p:pic>
        <p:nvPicPr>
          <p:cNvPr id="4" name="Picture 4" descr="Resultado de imagen para java png">
            <a:extLst>
              <a:ext uri="{FF2B5EF4-FFF2-40B4-BE49-F238E27FC236}">
                <a16:creationId xmlns:a16="http://schemas.microsoft.com/office/drawing/2014/main" id="{FF573902-6A3E-4DD1-9005-8EDBF3156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314" y="1897327"/>
            <a:ext cx="3498984" cy="306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876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4" y="1482571"/>
            <a:ext cx="7368466" cy="5251142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PE" sz="32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Persona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idpersona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int</a:t>
            </a:r>
            <a:endParaRPr lang="es-PE" sz="3200" b="0" dirty="0">
              <a:solidFill>
                <a:srgbClr val="CED5E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nombre </a:t>
            </a:r>
            <a:r>
              <a:rPr lang="es-PE" sz="32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str</a:t>
            </a:r>
            <a:endParaRPr lang="es-PE" sz="3200" b="0" dirty="0">
              <a:solidFill>
                <a:srgbClr val="CED5E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i="1" dirty="0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# constructor</a:t>
            </a:r>
            <a:endParaRPr lang="es-PE" sz="3200" b="0" dirty="0">
              <a:solidFill>
                <a:srgbClr val="CED5E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s-PE" sz="3200" b="0" dirty="0" err="1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s-PE" sz="32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3200" b="0" i="1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s-PE" sz="32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PE" sz="3200" b="0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s-PE" sz="3200" b="0" dirty="0" err="1">
                <a:solidFill>
                  <a:srgbClr val="97A7C8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s-PE" sz="32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.nombre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56D6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nombre</a:t>
            </a: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 err="1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 err="1">
                <a:solidFill>
                  <a:srgbClr val="FFCC00"/>
                </a:solidFill>
                <a:effectLst/>
                <a:latin typeface="Consolas" panose="020B0609020204030204" pitchFamily="49" charset="0"/>
              </a:rPr>
              <a:t>getnombre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3200" b="0" i="1" dirty="0" err="1">
                <a:solidFill>
                  <a:srgbClr val="FB467B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s-PE" sz="3200" b="0" dirty="0" err="1">
                <a:solidFill>
                  <a:srgbClr val="CB6CF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 err="1">
                <a:solidFill>
                  <a:srgbClr val="97A7C8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s-PE" sz="3200" b="0" dirty="0" err="1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.nombre</a:t>
            </a:r>
            <a:endParaRPr lang="es-PE" sz="3200" b="0" dirty="0">
              <a:solidFill>
                <a:srgbClr val="CED5E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PE" sz="3200" b="0" dirty="0">
                <a:solidFill>
                  <a:srgbClr val="CED5E5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 algn="just">
              <a:buNone/>
            </a:pPr>
            <a:endParaRPr lang="es-PE" sz="3200" dirty="0">
              <a:solidFill>
                <a:schemeClr val="tx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EEF5711-E3F5-4A36-B389-E0EFE4CB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b="1" dirty="0"/>
              <a:t>MÉTODOS</a:t>
            </a:r>
          </a:p>
        </p:txBody>
      </p:sp>
      <p:pic>
        <p:nvPicPr>
          <p:cNvPr id="6" name="Picture 6" descr="Resultado de imagen para python png">
            <a:extLst>
              <a:ext uri="{FF2B5EF4-FFF2-40B4-BE49-F238E27FC236}">
                <a16:creationId xmlns:a16="http://schemas.microsoft.com/office/drawing/2014/main" id="{F12EA499-4B82-4EE4-B245-671E90988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3" r="22884"/>
          <a:stretch/>
        </p:blipFill>
        <p:spPr bwMode="auto">
          <a:xfrm>
            <a:off x="8957675" y="3113228"/>
            <a:ext cx="2121277" cy="198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226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</a:t>
            </a:r>
            <a:r>
              <a:rPr lang="es-PE" dirty="0"/>
              <a:t>STRUCTURA CONDICIONAL SIMPLE</a:t>
            </a:r>
            <a:endParaRPr lang="es-PE" b="1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6FD6973-B2FF-4363-94D6-98666D152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2672"/>
            <a:ext cx="10515600" cy="533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15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</a:t>
            </a:r>
            <a:r>
              <a:rPr lang="es-PE" dirty="0"/>
              <a:t>STRUCTURA CONDICIONAL SIMPLE</a:t>
            </a:r>
            <a:endParaRPr lang="es-PE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456A35C-C0B7-4C99-84F3-34EECA56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85996"/>
            <a:ext cx="117348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58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</a:t>
            </a:r>
            <a:r>
              <a:rPr lang="es-PE" dirty="0"/>
              <a:t>STRUCTURA CONDICIONAL SIMPLE</a:t>
            </a:r>
            <a:endParaRPr lang="es-PE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456A35C-C0B7-4C99-84F3-34EECA56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85996"/>
            <a:ext cx="117348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61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</a:t>
            </a:r>
            <a:r>
              <a:rPr lang="es-PE" dirty="0"/>
              <a:t>STRUCTURA CONDICIONAL SIMPLE</a:t>
            </a:r>
            <a:endParaRPr lang="es-PE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917ABDA-AFA7-4418-BD5F-79AD25F15FF5}"/>
              </a:ext>
            </a:extLst>
          </p:cNvPr>
          <p:cNvSpPr txBox="1"/>
          <p:nvPr/>
        </p:nvSpPr>
        <p:spPr>
          <a:xfrm>
            <a:off x="802319" y="1690688"/>
            <a:ext cx="10587361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evaluar</a:t>
            </a:r>
            <a:r>
              <a:rPr lang="es-PE" sz="3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s-PE" sz="3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 celdaA1 </a:t>
            </a:r>
            <a:r>
              <a:rPr lang="es-PE" sz="3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Integer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celdaA1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celdaA1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Then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MsgBox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s-PE" sz="3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"El número es mayor a 10"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MsgBox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s-PE" sz="3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"El número es menor o igual a 10"</a:t>
            </a:r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PE" sz="32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End If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3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End Sub</a:t>
            </a:r>
            <a:endParaRPr lang="es-PE" sz="32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85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BAE6-6001-4F21-AA27-B69B65F8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101" y="479974"/>
            <a:ext cx="10589797" cy="1143000"/>
          </a:xfrm>
        </p:spPr>
        <p:txBody>
          <a:bodyPr>
            <a:normAutofit/>
          </a:bodyPr>
          <a:lstStyle/>
          <a:p>
            <a:r>
              <a:rPr lang="es-PE" sz="4800" b="1" dirty="0"/>
              <a:t>¿POR DÓNDE COMENZAR?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60A8A-CB6A-4E48-9A36-C379E3C06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973" y="2040258"/>
            <a:ext cx="9680052" cy="2777484"/>
          </a:xfrm>
        </p:spPr>
        <p:txBody>
          <a:bodyPr>
            <a:normAutofit fontScale="70000" lnSpcReduction="20000"/>
          </a:bodyPr>
          <a:lstStyle/>
          <a:p>
            <a:r>
              <a:rPr lang="es-MX" sz="4800" dirty="0">
                <a:ea typeface="Open Sans" panose="020B0606030504020204" pitchFamily="34" charset="0"/>
                <a:cs typeface="Open Sans" panose="020B0606030504020204" pitchFamily="34" charset="0"/>
              </a:rPr>
              <a:t>Leer manuales teóricos y prácticos</a:t>
            </a:r>
          </a:p>
          <a:p>
            <a:r>
              <a:rPr lang="es-MX" sz="4800" dirty="0">
                <a:ea typeface="Open Sans" panose="020B0606030504020204" pitchFamily="34" charset="0"/>
                <a:cs typeface="Open Sans" panose="020B0606030504020204" pitchFamily="34" charset="0"/>
              </a:rPr>
              <a:t>Ver documentales</a:t>
            </a:r>
          </a:p>
          <a:p>
            <a:r>
              <a:rPr lang="es-MX" sz="4800" dirty="0">
                <a:ea typeface="Open Sans" panose="020B0606030504020204" pitchFamily="34" charset="0"/>
                <a:cs typeface="Open Sans" panose="020B0606030504020204" pitchFamily="34" charset="0"/>
              </a:rPr>
              <a:t>Nunca te canses de preguntar el ¿ por qué? Y la importancia</a:t>
            </a:r>
          </a:p>
          <a:p>
            <a:r>
              <a:rPr lang="es-MX" sz="4800" dirty="0">
                <a:ea typeface="Open Sans" panose="020B0606030504020204" pitchFamily="34" charset="0"/>
                <a:cs typeface="Open Sans" panose="020B0606030504020204" pitchFamily="34" charset="0"/>
              </a:rPr>
              <a:t>¿Qué relación encuentras con lo que ya conoces?</a:t>
            </a:r>
          </a:p>
          <a:p>
            <a:pPr marL="0" indent="0">
              <a:buNone/>
            </a:pPr>
            <a:r>
              <a:rPr lang="es-MX" sz="4800" dirty="0"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</a:p>
          <a:p>
            <a:endParaRPr lang="es-PE" sz="480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266" name="Picture 2" descr="Icono de pila de libro - Descargar PNG/SVG transparente">
            <a:extLst>
              <a:ext uri="{FF2B5EF4-FFF2-40B4-BE49-F238E27FC236}">
                <a16:creationId xmlns:a16="http://schemas.microsoft.com/office/drawing/2014/main" id="{E2CBFE98-01A1-41BE-861B-695553E94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830" y="4269419"/>
            <a:ext cx="2370338" cy="237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588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B7DD-FA39-4655-9669-C7493818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APLICACIONES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B792B-A2E1-4098-9DD7-F2C6456A5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366" y="1786483"/>
            <a:ext cx="9705265" cy="2654888"/>
          </a:xfrm>
        </p:spPr>
        <p:txBody>
          <a:bodyPr>
            <a:normAutofit/>
          </a:bodyPr>
          <a:lstStyle/>
          <a:p>
            <a:pPr algn="just"/>
            <a:r>
              <a:rPr lang="es-PE" dirty="0"/>
              <a:t>WEB APPS (APLICACIONES WEB)</a:t>
            </a:r>
          </a:p>
          <a:p>
            <a:pPr algn="just"/>
            <a:r>
              <a:rPr lang="es-PE" dirty="0">
                <a:solidFill>
                  <a:schemeClr val="tx1"/>
                </a:solidFill>
              </a:rPr>
              <a:t>DESKTOP</a:t>
            </a:r>
          </a:p>
          <a:p>
            <a:pPr algn="just"/>
            <a:r>
              <a:rPr lang="es-PE" dirty="0"/>
              <a:t>APLICACIONES MÓVILES</a:t>
            </a:r>
            <a:endParaRPr lang="es-PE" dirty="0">
              <a:solidFill>
                <a:schemeClr val="tx1"/>
              </a:solidFill>
            </a:endParaRPr>
          </a:p>
          <a:p>
            <a:pPr algn="just"/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4" name="Picture 6" descr="Resultado de imagen para taza de cafe png">
            <a:extLst>
              <a:ext uri="{FF2B5EF4-FFF2-40B4-BE49-F238E27FC236}">
                <a16:creationId xmlns:a16="http://schemas.microsoft.com/office/drawing/2014/main" id="{FD4A2AD1-493E-4C8F-946F-CBF07960F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703" y="2094964"/>
            <a:ext cx="3751165" cy="3751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08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BAE6-6001-4F21-AA27-B69B65F8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7" y="358957"/>
            <a:ext cx="10589797" cy="1143000"/>
          </a:xfrm>
        </p:spPr>
        <p:txBody>
          <a:bodyPr>
            <a:normAutofit/>
          </a:bodyPr>
          <a:lstStyle/>
          <a:p>
            <a:r>
              <a:rPr lang="es-MX" dirty="0"/>
              <a:t>LENGUAJES EN TENDENCIA</a:t>
            </a:r>
            <a:endParaRPr lang="es-PE" b="1" dirty="0"/>
          </a:p>
        </p:txBody>
      </p:sp>
      <p:pic>
        <p:nvPicPr>
          <p:cNvPr id="5" name="Picture 2" descr="Resultado de imagen para javascript png">
            <a:extLst>
              <a:ext uri="{FF2B5EF4-FFF2-40B4-BE49-F238E27FC236}">
                <a16:creationId xmlns:a16="http://schemas.microsoft.com/office/drawing/2014/main" id="{ADA54F57-9509-4507-80F7-50FD8A931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908" y="2923877"/>
            <a:ext cx="1316184" cy="131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sultado de imagen para python png">
            <a:extLst>
              <a:ext uri="{FF2B5EF4-FFF2-40B4-BE49-F238E27FC236}">
                <a16:creationId xmlns:a16="http://schemas.microsoft.com/office/drawing/2014/main" id="{AC9AA0D4-A9E4-4C29-966E-71F9692FF6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3" r="22884"/>
          <a:stretch/>
        </p:blipFill>
        <p:spPr bwMode="auto">
          <a:xfrm>
            <a:off x="2324242" y="2810173"/>
            <a:ext cx="1524348" cy="142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ATLAB Logo and symbol, meaning, history, PNG, brand">
            <a:extLst>
              <a:ext uri="{FF2B5EF4-FFF2-40B4-BE49-F238E27FC236}">
                <a16:creationId xmlns:a16="http://schemas.microsoft.com/office/drawing/2014/main" id="{1BE892FB-7AC1-AF69-F76E-08B90E23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32" y="4329104"/>
            <a:ext cx="3651336" cy="205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ql Logo PNGs for Free Download">
            <a:extLst>
              <a:ext uri="{FF2B5EF4-FFF2-40B4-BE49-F238E27FC236}">
                <a16:creationId xmlns:a16="http://schemas.microsoft.com/office/drawing/2014/main" id="{A88A17FA-0085-E111-1FA5-4B8A7FD70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860" y="2644957"/>
            <a:ext cx="2753444" cy="183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987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12EC-97B4-4661-898C-DA89312A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733"/>
            <a:ext cx="10515600" cy="4233508"/>
          </a:xfrm>
        </p:spPr>
        <p:txBody>
          <a:bodyPr>
            <a:noAutofit/>
          </a:bodyPr>
          <a:lstStyle/>
          <a:p>
            <a:pPr algn="ctr"/>
            <a:r>
              <a:rPr lang="es-PE" sz="6600" b="1" dirty="0"/>
              <a:t>¿CÓMO MANEJAR EL VERSIONES DE MI PROYECTO?</a:t>
            </a:r>
          </a:p>
        </p:txBody>
      </p:sp>
    </p:spTree>
    <p:extLst>
      <p:ext uri="{BB962C8B-B14F-4D97-AF65-F5344CB8AC3E}">
        <p14:creationId xmlns:p14="http://schemas.microsoft.com/office/powerpoint/2010/main" val="3218426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BAE6-6001-4F21-AA27-B69B65F8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957" y="364565"/>
            <a:ext cx="10589797" cy="1143000"/>
          </a:xfrm>
        </p:spPr>
        <p:txBody>
          <a:bodyPr/>
          <a:lstStyle/>
          <a:p>
            <a:r>
              <a:rPr lang="es-PE" sz="6400" b="1" dirty="0"/>
              <a:t>GIT - GITHUB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93CC0F2-15DB-4897-90F5-DC2BDB29E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195" y="1838904"/>
            <a:ext cx="10035157" cy="4055870"/>
          </a:xfrm>
        </p:spPr>
        <p:txBody>
          <a:bodyPr>
            <a:normAutofit/>
          </a:bodyPr>
          <a:lstStyle/>
          <a:p>
            <a:pPr algn="just"/>
            <a:r>
              <a:rPr lang="es-MX" dirty="0">
                <a:ea typeface="Open Sans" panose="020B0606030504020204" pitchFamily="34" charset="0"/>
                <a:cs typeface="Open Sans" panose="020B0606030504020204" pitchFamily="34" charset="0"/>
              </a:rPr>
              <a:t>Sistema de control de versiones.	</a:t>
            </a:r>
          </a:p>
          <a:p>
            <a:pPr marL="0" indent="0" algn="just">
              <a:buNone/>
            </a:pPr>
            <a:endParaRPr lang="es-PE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1F95149-43F5-48E1-8826-F10DF57BA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" y="3058970"/>
            <a:ext cx="5382827" cy="224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GitHub Logos and Usage · GitHub">
            <a:extLst>
              <a:ext uri="{FF2B5EF4-FFF2-40B4-BE49-F238E27FC236}">
                <a16:creationId xmlns:a16="http://schemas.microsoft.com/office/drawing/2014/main" id="{FA74AB5D-9673-4F26-9772-79220CD78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100" y="2810052"/>
            <a:ext cx="3518705" cy="292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934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BAE6-6001-4F21-AA27-B69B65F8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957" y="364565"/>
            <a:ext cx="10589797" cy="1143000"/>
          </a:xfrm>
        </p:spPr>
        <p:txBody>
          <a:bodyPr/>
          <a:lstStyle/>
          <a:p>
            <a:r>
              <a:rPr lang="es-PE" sz="6400" b="1" dirty="0"/>
              <a:t>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60A8A-CB6A-4E48-9A36-C379E3C06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57" y="1892170"/>
            <a:ext cx="9846008" cy="2304256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s-MX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“Existe una similitud entre el folclore cuando un poema o una canción se redefine o cambia de un cantante u otro y como puede mejorar el Software Libre”.</a:t>
            </a:r>
          </a:p>
          <a:p>
            <a:pPr marL="0" indent="0" algn="just">
              <a:buNone/>
            </a:pPr>
            <a:endParaRPr lang="es-MX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buNone/>
            </a:pPr>
            <a:r>
              <a:rPr lang="es-MX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-Richard Stallman	</a:t>
            </a:r>
          </a:p>
          <a:p>
            <a:pPr marL="0" indent="0" algn="just">
              <a:buNone/>
            </a:pPr>
            <a:endParaRPr lang="es-PE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D92FD6-A328-473F-AAC9-FF9F0D842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934" y="3429000"/>
            <a:ext cx="2480387" cy="29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34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BAE6-6001-4F21-AA27-B69B65F8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590" y="476849"/>
            <a:ext cx="10589797" cy="1028733"/>
          </a:xfrm>
        </p:spPr>
        <p:txBody>
          <a:bodyPr>
            <a:normAutofit/>
          </a:bodyPr>
          <a:lstStyle/>
          <a:p>
            <a:r>
              <a:rPr lang="es-PE" sz="6000" b="1" dirty="0"/>
              <a:t>¿INFLUENCIAS?</a:t>
            </a:r>
          </a:p>
        </p:txBody>
      </p:sp>
      <p:pic>
        <p:nvPicPr>
          <p:cNvPr id="7" name="Content Placeholder 6" descr="Resultado de imagen para alan turing">
            <a:extLst>
              <a:ext uri="{FF2B5EF4-FFF2-40B4-BE49-F238E27FC236}">
                <a16:creationId xmlns:a16="http://schemas.microsoft.com/office/drawing/2014/main" id="{B165DD88-8B6D-4929-8257-0B70872835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590" y="1680294"/>
            <a:ext cx="2024426" cy="2314992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Resultado de imagen para linus torvalds">
            <a:extLst>
              <a:ext uri="{FF2B5EF4-FFF2-40B4-BE49-F238E27FC236}">
                <a16:creationId xmlns:a16="http://schemas.microsoft.com/office/drawing/2014/main" id="{20A4DDCF-F01C-4B09-BC4D-61D6E80CC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83" y="1680294"/>
            <a:ext cx="2791675" cy="346447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istoria de la tablet: BIOGRAFIA DE ALAN KAY">
            <a:extLst>
              <a:ext uri="{FF2B5EF4-FFF2-40B4-BE49-F238E27FC236}">
                <a16:creationId xmlns:a16="http://schemas.microsoft.com/office/drawing/2014/main" id="{508BDC1C-573F-430D-8CC0-B93F4DA94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005" y="4580776"/>
            <a:ext cx="2320021" cy="1684883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im Berners-Lee: Así revolucionó el mundo con su World Wide Web | Baleares">
            <a:extLst>
              <a:ext uri="{FF2B5EF4-FFF2-40B4-BE49-F238E27FC236}">
                <a16:creationId xmlns:a16="http://schemas.microsoft.com/office/drawing/2014/main" id="{607D163B-75EE-4DB4-A592-A6B086AA1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590" y="4050589"/>
            <a:ext cx="3873348" cy="221507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sborNet: Ídolos de la computación: Dennis Ritchie">
            <a:extLst>
              <a:ext uri="{FF2B5EF4-FFF2-40B4-BE49-F238E27FC236}">
                <a16:creationId xmlns:a16="http://schemas.microsoft.com/office/drawing/2014/main" id="{8A9330C3-0359-4A01-B621-41D462237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825" y="1680294"/>
            <a:ext cx="4262999" cy="284200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Resultado de imagen para richard stallman 80s">
            <a:extLst>
              <a:ext uri="{FF2B5EF4-FFF2-40B4-BE49-F238E27FC236}">
                <a16:creationId xmlns:a16="http://schemas.microsoft.com/office/drawing/2014/main" id="{925D75AF-6179-4299-A2DA-653637726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4"/>
          <a:stretch/>
        </p:blipFill>
        <p:spPr bwMode="auto">
          <a:xfrm>
            <a:off x="5204005" y="3038963"/>
            <a:ext cx="2409961" cy="2023251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Resultado de imagen para larry page y sergey brin">
            <a:extLst>
              <a:ext uri="{FF2B5EF4-FFF2-40B4-BE49-F238E27FC236}">
                <a16:creationId xmlns:a16="http://schemas.microsoft.com/office/drawing/2014/main" id="{BF4C2112-76DF-4DC1-A41C-9CD53E5EC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200" y="4580776"/>
            <a:ext cx="3174624" cy="1684883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8607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Open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5511</TotalTime>
  <Words>758</Words>
  <Application>Microsoft Office PowerPoint</Application>
  <PresentationFormat>Widescreen</PresentationFormat>
  <Paragraphs>207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Consolas</vt:lpstr>
      <vt:lpstr>Open Sans</vt:lpstr>
      <vt:lpstr>Roboto</vt:lpstr>
      <vt:lpstr>Tema de Office</vt:lpstr>
      <vt:lpstr>ALGORITMOS Y PROGRAMACION</vt:lpstr>
      <vt:lpstr>¿Qué es Programar?</vt:lpstr>
      <vt:lpstr>SOFTWARE</vt:lpstr>
      <vt:lpstr>DATO</vt:lpstr>
      <vt:lpstr>INFORMACIÓN</vt:lpstr>
      <vt:lpstr>LENGUAJES</vt:lpstr>
      <vt:lpstr>ARRAY UNIDIMENCIONAL</vt:lpstr>
      <vt:lpstr>ARRAY BIDIMENSIONAL</vt:lpstr>
      <vt:lpstr>TABLA</vt:lpstr>
      <vt:lpstr>TIPOS DE DATOS</vt:lpstr>
      <vt:lpstr>TIPOS DE DATOS </vt:lpstr>
      <vt:lpstr>TIPOS DE OPERADORES</vt:lpstr>
      <vt:lpstr>OPERADORES</vt:lpstr>
      <vt:lpstr>VARIABLE</vt:lpstr>
      <vt:lpstr>HERRAMIENTAS</vt:lpstr>
      <vt:lpstr>Editor de Código</vt:lpstr>
      <vt:lpstr>IDE – Entorno de Desarrollo Integrado</vt:lpstr>
      <vt:lpstr>MÉTODOS</vt:lpstr>
      <vt:lpstr>PowerPoint Presentation</vt:lpstr>
      <vt:lpstr>MÉTODOS</vt:lpstr>
      <vt:lpstr>ESTRUCTURA CONDICIONAL SIMPLE</vt:lpstr>
      <vt:lpstr>ESTRUCTURA CONDICIONAL SIMPLE</vt:lpstr>
      <vt:lpstr>ESTRUCTURA CONDICIONAL SIMPLE</vt:lpstr>
      <vt:lpstr>ESTRUCTURA CONDICIONAL SIMPLE</vt:lpstr>
      <vt:lpstr>¿POR DÓNDE COMENZAR?</vt:lpstr>
      <vt:lpstr>APLICACIONES</vt:lpstr>
      <vt:lpstr>LENGUAJES EN TENDENCIA</vt:lpstr>
      <vt:lpstr>¿CÓMO MANEJAR EL VERSIONES DE MI PROYECTO?</vt:lpstr>
      <vt:lpstr>GIT - GITHUB</vt:lpstr>
      <vt:lpstr>Software</vt:lpstr>
      <vt:lpstr>¿INFLUENCIAS?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EXCEL</dc:title>
  <dc:creator>Anthony</dc:creator>
  <cp:lastModifiedBy>ANTHONY</cp:lastModifiedBy>
  <cp:revision>259</cp:revision>
  <dcterms:created xsi:type="dcterms:W3CDTF">2020-10-28T19:12:16Z</dcterms:created>
  <dcterms:modified xsi:type="dcterms:W3CDTF">2026-04-07T23:58:06Z</dcterms:modified>
</cp:coreProperties>
</file>